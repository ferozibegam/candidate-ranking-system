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374577-629D-4678-9751-B3D1D3285A29}" v="8" dt="2026-07-01T12:17:36.0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1200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ROZI BEGAM SHAIK" userId="c25c5196659b1f2c" providerId="LiveId" clId="{057A0636-0E31-44CE-95B5-4FCEF15711CC}"/>
    <pc:docChg chg="undo custSel modSld">
      <pc:chgData name="FEROZI BEGAM SHAIK" userId="c25c5196659b1f2c" providerId="LiveId" clId="{057A0636-0E31-44CE-95B5-4FCEF15711CC}" dt="2026-07-01T12:20:08.256" v="67" actId="1076"/>
      <pc:docMkLst>
        <pc:docMk/>
      </pc:docMkLst>
      <pc:sldChg chg="modSp mod">
        <pc:chgData name="FEROZI BEGAM SHAIK" userId="c25c5196659b1f2c" providerId="LiveId" clId="{057A0636-0E31-44CE-95B5-4FCEF15711CC}" dt="2026-07-01T12:18:48.063" v="45" actId="20577"/>
        <pc:sldMkLst>
          <pc:docMk/>
          <pc:sldMk cId="0" sldId="257"/>
        </pc:sldMkLst>
        <pc:spChg chg="mod">
          <ac:chgData name="FEROZI BEGAM SHAIK" userId="c25c5196659b1f2c" providerId="LiveId" clId="{057A0636-0E31-44CE-95B5-4FCEF15711CC}" dt="2026-07-01T12:18:48.063" v="45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FEROZI BEGAM SHAIK" userId="c25c5196659b1f2c" providerId="LiveId" clId="{057A0636-0E31-44CE-95B5-4FCEF15711CC}" dt="2026-07-01T12:18:58.040" v="46" actId="1076"/>
        <pc:sldMkLst>
          <pc:docMk/>
          <pc:sldMk cId="0" sldId="258"/>
        </pc:sldMkLst>
        <pc:spChg chg="mod">
          <ac:chgData name="FEROZI BEGAM SHAIK" userId="c25c5196659b1f2c" providerId="LiveId" clId="{057A0636-0E31-44CE-95B5-4FCEF15711CC}" dt="2026-07-01T12:18:58.040" v="46" actId="107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FEROZI BEGAM SHAIK" userId="c25c5196659b1f2c" providerId="LiveId" clId="{057A0636-0E31-44CE-95B5-4FCEF15711CC}" dt="2026-07-01T12:19:03.492" v="47" actId="1076"/>
        <pc:sldMkLst>
          <pc:docMk/>
          <pc:sldMk cId="0" sldId="259"/>
        </pc:sldMkLst>
        <pc:spChg chg="mod">
          <ac:chgData name="FEROZI BEGAM SHAIK" userId="c25c5196659b1f2c" providerId="LiveId" clId="{057A0636-0E31-44CE-95B5-4FCEF15711CC}" dt="2026-07-01T12:19:03.492" v="47" actId="107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FEROZI BEGAM SHAIK" userId="c25c5196659b1f2c" providerId="LiveId" clId="{057A0636-0E31-44CE-95B5-4FCEF15711CC}" dt="2026-07-01T12:20:08.256" v="67" actId="1076"/>
        <pc:sldMkLst>
          <pc:docMk/>
          <pc:sldMk cId="0" sldId="260"/>
        </pc:sldMkLst>
        <pc:spChg chg="mod">
          <ac:chgData name="FEROZI BEGAM SHAIK" userId="c25c5196659b1f2c" providerId="LiveId" clId="{057A0636-0E31-44CE-95B5-4FCEF15711CC}" dt="2026-07-01T12:20:08.256" v="67" actId="1076"/>
          <ac:spMkLst>
            <pc:docMk/>
            <pc:sldMk cId="0" sldId="260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Intelligent Candidate Discovery &amp; Ranking</a:t>
            </a:r>
          </a:p>
          <a:p>
            <a:pPr algn="ctr">
              <a:defRPr sz="2000">
                <a:solidFill>
                  <a:srgbClr val="C8DCFF"/>
                </a:solidFill>
              </a:defRPr>
            </a:pPr>
            <a:r>
              <a:t>A 4-Dimensional AI Recruiting Engine</a:t>
            </a:r>
            <a:br/>
            <a:r>
              <a:t>Generated on 2026-07-01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50"/>
                </a:solidFill>
              </a:defRPr>
            </a:pPr>
            <a:r>
              <a:t>The Challenge: Beyond Keyword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91920"/>
            <a:ext cx="7772400" cy="3595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lang="en-IN" dirty="0"/>
              <a:t>Recruiters sort through hundreds of profiles and still miss optimal fits because standard </a:t>
            </a:r>
            <a:r>
              <a:rPr lang="en-IN" dirty="0" err="1"/>
              <a:t>boolean</a:t>
            </a:r>
            <a:r>
              <a:rPr lang="en-IN" dirty="0"/>
              <a:t>/keyword filters fail to see what actually matters.</a:t>
            </a:r>
          </a:p>
          <a:p>
            <a:r>
              <a:rPr lang="en-IN" b="1" dirty="0"/>
              <a:t>Trap 1: Keyword Stuffers:</a:t>
            </a:r>
            <a:r>
              <a:rPr lang="en-IN" dirty="0"/>
              <a:t> Profiles listing spammed AI keywords without actual product development experience.</a:t>
            </a:r>
          </a:p>
          <a:p>
            <a:endParaRPr lang="en-IN" dirty="0"/>
          </a:p>
          <a:p>
            <a:r>
              <a:rPr lang="en-IN" b="1" dirty="0"/>
              <a:t>Trap 2: Plain-Language Engineers:</a:t>
            </a:r>
            <a:r>
              <a:rPr lang="en-IN" dirty="0"/>
              <a:t> High-quality builders who explain complex systems in plain text without spammed buzzwords, who are often missed by traditional parsers.</a:t>
            </a:r>
          </a:p>
          <a:p>
            <a:endParaRPr lang="en-IN" dirty="0"/>
          </a:p>
          <a:p>
            <a:r>
              <a:rPr lang="en-IN" b="1" dirty="0"/>
              <a:t>Trap 3: </a:t>
            </a:r>
            <a:r>
              <a:rPr lang="en-IN" b="1" dirty="0" err="1"/>
              <a:t>Behavioral</a:t>
            </a:r>
            <a:r>
              <a:rPr lang="en-IN" b="1" dirty="0"/>
              <a:t> / Honeypot Profiles:</a:t>
            </a:r>
            <a:r>
              <a:rPr lang="en-IN" dirty="0"/>
              <a:t> Accounts that look perfect on paper but are stale, inactive, or systematically falsified to trigger automated platform ranking hooks.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50"/>
                </a:solidFill>
              </a:defRPr>
            </a:pPr>
            <a:r>
              <a:t>Our Solution: 4-Dimensional Alignment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23268"/>
            <a:ext cx="7772400" cy="4411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Designed to mimic the evaluation process of an expert senior recruiter.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b="1" dirty="0"/>
              <a:t>1. Technical Skill Relevance Alignment (40% Weight)</a:t>
            </a:r>
            <a:r>
              <a:rPr lang="en-IN" b="1" dirty="0"/>
              <a:t>- </a:t>
            </a:r>
            <a:r>
              <a:rPr lang="en-IN" dirty="0"/>
              <a:t>Evaluates core ML/AI tool density (embeddings, retrieval, vector databases, </a:t>
            </a:r>
            <a:r>
              <a:rPr lang="en-IN" dirty="0" err="1"/>
              <a:t>ndcg</a:t>
            </a:r>
            <a:r>
              <a:rPr lang="en-IN" dirty="0"/>
              <a:t>, </a:t>
            </a:r>
            <a:r>
              <a:rPr lang="en-IN" dirty="0" err="1"/>
              <a:t>mrr</a:t>
            </a:r>
            <a:r>
              <a:rPr lang="en-IN" dirty="0"/>
              <a:t>) rather than surface-level framework lists.</a:t>
            </a:r>
            <a:endParaRPr b="1" dirty="0"/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b="1" dirty="0"/>
              <a:t>2. Career Trajectory &amp; Experience Fit (30% Weight)</a:t>
            </a:r>
            <a:r>
              <a:rPr lang="en-IN" b="1" dirty="0"/>
              <a:t>- </a:t>
            </a:r>
            <a:r>
              <a:rPr lang="en-IN" dirty="0"/>
              <a:t>Prioritizes candidates within the ideal operating window for a founding engineer (</a:t>
            </a:r>
            <a:r>
              <a:rPr lang="en-IN" b="1" dirty="0"/>
              <a:t>5 to 9 years</a:t>
            </a:r>
            <a:r>
              <a:rPr lang="en-IN" dirty="0"/>
              <a:t>) using a balanced maturity scaling curve.</a:t>
            </a:r>
            <a:endParaRPr b="1" dirty="0"/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b="1" dirty="0"/>
              <a:t>3. Operational Momentum &amp; Growth Velocity (15% Weight)</a:t>
            </a:r>
            <a:r>
              <a:rPr lang="en-IN" b="1" dirty="0"/>
              <a:t>- </a:t>
            </a:r>
            <a:r>
              <a:rPr lang="en-IN" dirty="0"/>
              <a:t>Identifies practical, hands-on builders by identifying clear action-oriented professional signals throughout their career history.</a:t>
            </a:r>
            <a:endParaRPr b="1" dirty="0"/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b="1" dirty="0"/>
              <a:t>4. Platform Behavior &amp; Availability Modifiers (15% Weight)</a:t>
            </a:r>
            <a:r>
              <a:rPr lang="en-IN" b="1" dirty="0"/>
              <a:t>- </a:t>
            </a:r>
            <a:r>
              <a:rPr lang="en-IN" dirty="0"/>
              <a:t>Incorporates real-time baseline signal data to prioritize highly responsive talent and bypass outdated or inactive profiles.</a:t>
            </a:r>
            <a:endParaRPr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50"/>
                </a:solidFill>
              </a:defRPr>
            </a:pPr>
            <a:r>
              <a:t>Top Strategic Recommendation Shortlist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145" y="11430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Top evaluated profiles extracted by the orchestrator engine pipeline: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Rank 1: CAND_0081846 (Score: 0.7557) - Senior Engineer showing true product engineering background with 6.7 years of experience. Demonstrates clear production tracking across target skillsets (embeddings, python, </a:t>
            </a:r>
            <a:r>
              <a:rPr dirty="0" err="1"/>
              <a:t>pytorch</a:t>
            </a:r>
            <a:r>
              <a:rPr dirty="0"/>
              <a:t>).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Rank 2: CAND_0011687 (Score: 0.7425) - Senior Engineer showing true product engineering background with 7.8 years of experience. Demonstrates clear production tracking across target skillsets (embeddings, </a:t>
            </a:r>
            <a:r>
              <a:rPr dirty="0" err="1"/>
              <a:t>tensorflow</a:t>
            </a:r>
            <a:r>
              <a:rPr dirty="0"/>
              <a:t>, </a:t>
            </a:r>
            <a:r>
              <a:rPr dirty="0" err="1"/>
              <a:t>pytorch</a:t>
            </a:r>
            <a:r>
              <a:rPr dirty="0"/>
              <a:t>).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Rank 3: CAND_0088025 (Score: 0.7416) - Senior Engineer showing true product engineering background with 8.6 years of experience. Demonstrates clear production tracking across target skillsets (python, </a:t>
            </a:r>
            <a:r>
              <a:rPr dirty="0" err="1"/>
              <a:t>tensorflow</a:t>
            </a:r>
            <a:r>
              <a:rPr dirty="0"/>
              <a:t>, rag).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Rank 4: CAND_0002025 (Score: 0.7412) - Senior Engineer showing true product engineering background with 5.9 years of experience. Demonstrates clear production tracking across target skillsets (python, </a:t>
            </a:r>
            <a:r>
              <a:rPr dirty="0" err="1"/>
              <a:t>tensorflow</a:t>
            </a:r>
            <a:r>
              <a:rPr dirty="0"/>
              <a:t>, scikit-learn).</a:t>
            </a:r>
          </a:p>
          <a:p>
            <a:pPr>
              <a:spcAft>
                <a:spcPts val="1400"/>
              </a:spcAft>
              <a:defRPr sz="1800">
                <a:solidFill>
                  <a:srgbClr val="323232"/>
                </a:solidFill>
              </a:defRPr>
            </a:pPr>
            <a:r>
              <a:rPr dirty="0"/>
              <a:t>Rank 5: CAND_0018499 (Score: 0.7383) - Senior Engineer showing true product engineering background with 7.2 years of experience. Demonstrates clear production tracking across target skillsets (embeddings, rag, scikit-learn).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50"/>
                </a:solidFill>
              </a:defRPr>
            </a:pPr>
            <a:r>
              <a:rPr dirty="0"/>
              <a:t>Strategic Hiring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8782" y="1371600"/>
            <a:ext cx="777240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Font typeface="+mj-lt"/>
              <a:buAutoNum type="arabicPeriod"/>
              <a:defRPr sz="1800">
                <a:solidFill>
                  <a:srgbClr val="323232"/>
                </a:solidFill>
              </a:defRPr>
            </a:pPr>
            <a:r>
              <a:rPr b="1" dirty="0"/>
              <a:t> Automated Outreach: </a:t>
            </a:r>
            <a:r>
              <a:rPr dirty="0"/>
              <a:t>Target top 10 candidates instantly </a:t>
            </a:r>
            <a:r>
              <a:rPr lang="en-IN" dirty="0"/>
              <a:t>who are currently active and most likely to respond.</a:t>
            </a:r>
          </a:p>
          <a:p>
            <a:pPr marL="342900" indent="-342900">
              <a:spcAft>
                <a:spcPts val="1400"/>
              </a:spcAft>
              <a:buFont typeface="+mj-lt"/>
              <a:buAutoNum type="arabicPeriod"/>
              <a:defRPr sz="1800">
                <a:solidFill>
                  <a:srgbClr val="323232"/>
                </a:solidFill>
              </a:defRPr>
            </a:pPr>
            <a:r>
              <a:rPr lang="en-IN" b="1" dirty="0"/>
              <a:t>Technical Skill Verification:</a:t>
            </a:r>
            <a:r>
              <a:rPr lang="en-IN" dirty="0"/>
              <a:t> </a:t>
            </a:r>
            <a:r>
              <a:rPr lang="en-IN" dirty="0" err="1"/>
              <a:t>Analyze</a:t>
            </a:r>
            <a:r>
              <a:rPr lang="en-IN" dirty="0"/>
              <a:t> previous projects, code contributions, and technical experience to validate a candidate's skills. </a:t>
            </a:r>
          </a:p>
          <a:p>
            <a:pPr marL="342900" indent="-342900">
              <a:spcAft>
                <a:spcPts val="1400"/>
              </a:spcAft>
              <a:buFont typeface="+mj-lt"/>
              <a:buAutoNum type="arabicPeriod"/>
              <a:defRPr sz="1800">
                <a:solidFill>
                  <a:srgbClr val="323232"/>
                </a:solidFill>
              </a:defRPr>
            </a:pPr>
            <a:r>
              <a:rPr lang="en-IN" b="1" dirty="0"/>
              <a:t>Resume &amp; Career Verification:</a:t>
            </a:r>
            <a:r>
              <a:rPr lang="en-IN" dirty="0"/>
              <a:t> Cross-check employment history and career progression to detect inconsistencies or exaggerated claims. </a:t>
            </a:r>
          </a:p>
          <a:p>
            <a:pPr marL="342900" indent="-342900">
              <a:spcAft>
                <a:spcPts val="1400"/>
              </a:spcAft>
              <a:buFont typeface="+mj-lt"/>
              <a:buAutoNum type="arabicPeriod"/>
              <a:defRPr sz="1800">
                <a:solidFill>
                  <a:srgbClr val="323232"/>
                </a:solidFill>
              </a:defRPr>
            </a:pPr>
            <a:r>
              <a:rPr lang="en-IN" b="1" dirty="0"/>
              <a:t>Dynamic Candidate Ranking:</a:t>
            </a:r>
            <a:r>
              <a:rPr lang="en-IN" dirty="0"/>
              <a:t> Continuously update candidate rankings based on recruiter feedback and interview outcomes to improve hiring decisions.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Questions?</a:t>
            </a:r>
          </a:p>
          <a:p>
            <a:pPr algn="ctr">
              <a:defRPr sz="2000">
                <a:solidFill>
                  <a:srgbClr val="C8DCFF"/>
                </a:solidFill>
              </a:defRPr>
            </a:pPr>
            <a:r>
              <a:t>This ranking system brings clean, verifiable alignment to recruitment.</a:t>
            </a:r>
            <a:br/>
            <a:r>
              <a:t> Better decisions. Zero keyword noise. High efficiency.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584</Words>
  <Application>Microsoft Office PowerPoint</Application>
  <PresentationFormat>On-screen Show (4:3)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FEROZI BEGAM SHAIK</cp:lastModifiedBy>
  <cp:revision>1</cp:revision>
  <dcterms:created xsi:type="dcterms:W3CDTF">2013-01-27T09:14:16Z</dcterms:created>
  <dcterms:modified xsi:type="dcterms:W3CDTF">2026-07-01T12:20:09Z</dcterms:modified>
  <cp:category/>
</cp:coreProperties>
</file>